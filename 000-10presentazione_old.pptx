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80CBC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80CBC4"/>
                </a:solidFill>
                <a:latin typeface="Arial"/>
              </a:rPr>
              <a:t>Preprocessing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Seriale</c:v>
                  </c:pt>
                  <c:pt idx="1">
                    <c:v>Parallelo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28.4</c:v>
                </c:pt>
                <c:pt idx="1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12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334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3349">
              <a:alpha val="60000"/>
            </a:srgbClr>
          </a:solidFill>
          <a:ln w="19050">
            <a:solidFill>
              <a:srgbClr val="4DB6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365760"/>
            <a:ext cx="2743200" cy="2743200"/>
          </a:xfrm>
          <a:prstGeom prst="ellipse">
            <a:avLst/>
          </a:prstGeom>
          <a:solidFill>
            <a:srgbClr val="112244">
              <a:alpha val="70000"/>
            </a:srgbClr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Smart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5303520" cy="640080"/>
          </a:xfrm>
          <a:prstGeom prst="rect">
            <a:avLst/>
          </a:prstGeom>
          <a:solidFill>
            <a:srgbClr val="0D3349"/>
          </a:solidFill>
          <a:ln w="127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907792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Dinamica con Level Set e Calcolo Parallelo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Marrone</a:t>
            </a:r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Calcolo Scientifico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2011680"/>
            <a:ext cx="320040" cy="320040"/>
          </a:xfrm>
          <a:prstGeom prst="ellipse">
            <a:avLst/>
          </a:prstGeom>
          <a:solidFill>
            <a:srgbClr val="4DB6AC">
              <a:alpha val="45000"/>
            </a:srgbClr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560320"/>
            <a:ext cx="256032" cy="256032"/>
          </a:xfrm>
          <a:prstGeom prst="ellipse">
            <a:avLst/>
          </a:prstGeom>
          <a:solidFill>
            <a:srgbClr val="4DB6AC">
              <a:alpha val="45000"/>
            </a:srgbClr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108960"/>
            <a:ext cx="201168" cy="201168"/>
          </a:xfrm>
          <a:prstGeom prst="ellipse">
            <a:avLst/>
          </a:prstGeom>
          <a:solidFill>
            <a:srgbClr val="4DB6AC">
              <a:alpha val="45000"/>
            </a:srgbClr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463040"/>
            <a:ext cx="164592" cy="164592"/>
          </a:xfrm>
          <a:prstGeom prst="ellipse">
            <a:avLst/>
          </a:prstGeom>
          <a:solidFill>
            <a:srgbClr val="4DB6AC">
              <a:alpha val="45000"/>
            </a:srgbClr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834640"/>
            <a:ext cx="128016" cy="128016"/>
          </a:xfrm>
          <a:prstGeom prst="ellipse">
            <a:avLst/>
          </a:prstGeom>
          <a:solidFill>
            <a:srgbClr val="4DB6AC">
              <a:alpha val="45000"/>
            </a:srgbClr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3566160"/>
            <a:ext cx="182880" cy="182880"/>
          </a:xfrm>
          <a:prstGeom prst="ellipse">
            <a:avLst/>
          </a:prstGeom>
          <a:solidFill>
            <a:srgbClr val="4DB6AC">
              <a:alpha val="45000"/>
            </a:srgbClr>
          </a:solidFill>
          <a:ln w="9525">
            <a:solidFill>
              <a:srgbClr val="80C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Problema: Tracking di Cellule al Microscopio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cellule si muovono, deformano e dividono in ogni frame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L'analisi manuale richiede ore di lavoro per pochi minuti di video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un algoritmo che si adatti automaticamente a forme variabili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94960" y="1143000"/>
            <a:ext cx="3383280" cy="685800"/>
          </a:xfrm>
          <a:prstGeom prst="rect">
            <a:avLst/>
          </a:prstGeom>
          <a:solidFill>
            <a:srgbClr val="0D3349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23560" y="1252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irregolari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2011680"/>
            <a:ext cx="3383280" cy="685800"/>
          </a:xfrm>
          <a:prstGeom prst="rect">
            <a:avLst/>
          </a:prstGeom>
          <a:solidFill>
            <a:srgbClr val="0D3349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e sfocatura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2880360"/>
            <a:ext cx="3383280" cy="685800"/>
          </a:xfrm>
          <a:prstGeom prst="rect">
            <a:avLst/>
          </a:prstGeom>
          <a:solidFill>
            <a:srgbClr val="0D3349"/>
          </a:solidFill>
          <a:ln w="19050">
            <a:solidFill>
              <a:srgbClr val="4DB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2990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Divisione cellulare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3703320"/>
            <a:ext cx="338328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3794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[ Screenshot: frame al microscopio 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Soluzione: Tre Pilastri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2697480" cy="3474720"/>
          </a:xfrm>
          <a:prstGeom prst="rect">
            <a:avLst/>
          </a:prstGeom>
          <a:solidFill>
            <a:srgbClr val="0D3349"/>
          </a:solidFill>
          <a:ln w="254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697480" cy="73152"/>
          </a:xfrm>
          <a:prstGeom prst="rect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80160"/>
            <a:ext cx="685800" cy="6858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80C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9844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0CBC4"/>
                </a:solidFill>
              </a:rPr>
              <a:t>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(Chan-Vese)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elastico che si adatta alla forma dell'oggetto in ogni frame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97480" cy="3474720"/>
          </a:xfrm>
          <a:prstGeom prst="rect">
            <a:avLst/>
          </a:prstGeom>
          <a:solidFill>
            <a:srgbClr val="0D3349"/>
          </a:solidFill>
          <a:ln w="25400">
            <a:solidFill>
              <a:srgbClr val="4DB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697480" cy="731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280160"/>
            <a:ext cx="685800" cy="6858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29844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DB6AC"/>
                </a:solidFill>
              </a:rPr>
              <a:t>◎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8803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contorno del frame precedente è il punto di partenza del successivo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051560"/>
            <a:ext cx="2697480" cy="3474720"/>
          </a:xfrm>
          <a:prstGeom prst="rect">
            <a:avLst/>
          </a:prstGeom>
          <a:solidFill>
            <a:srgbClr val="0D3349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051560"/>
            <a:ext cx="269748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280160"/>
            <a:ext cx="685800" cy="68580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29844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9C12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103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distribuito su più core CPU con ProcessPoolExecutor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Set: L'Intuizione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8321040" cy="822960"/>
          </a:xfrm>
          <a:prstGeom prst="rect">
            <a:avLst/>
          </a:prstGeom>
          <a:solidFill>
            <a:srgbClr val="0D3349"/>
          </a:solidFill>
          <a:ln w="1905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Immagina un elastico virtuale posizionato attorno all'oggetto…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stringe attorno all'oggetto cercando l'equilibrio energetico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gestire fusioni e divisioni — la topologia cambia liberamente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serve conoscere la forma in anticipo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240280"/>
            <a:ext cx="1828800" cy="1554480"/>
          </a:xfrm>
          <a:prstGeom prst="ellipse">
            <a:avLst/>
          </a:prstGeom>
          <a:solidFill>
            <a:srgbClr val="80CBC4">
              <a:alpha val="30000"/>
            </a:srgbClr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6832" y="2457907"/>
            <a:ext cx="1316736" cy="1119226"/>
          </a:xfrm>
          <a:prstGeom prst="ellipse">
            <a:avLst/>
          </a:prstGeom>
          <a:solidFill>
            <a:srgbClr val="80CBC4">
              <a:alpha val="45000"/>
            </a:srgbClr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76288" y="2644445"/>
            <a:ext cx="877824" cy="746150"/>
          </a:xfrm>
          <a:prstGeom prst="ellipse">
            <a:avLst/>
          </a:prstGeom>
          <a:solidFill>
            <a:srgbClr val="80CBC4">
              <a:alpha val="60000"/>
            </a:srgbClr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2799893"/>
            <a:ext cx="512064" cy="435254"/>
          </a:xfrm>
          <a:prstGeom prst="ellipse">
            <a:avLst/>
          </a:prstGeom>
          <a:solidFill>
            <a:srgbClr val="80CBC4">
              <a:alpha val="80000"/>
            </a:srgbClr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CBC4"/>
                </a:solidFill>
              </a:rPr>
              <a:t>φ(x) = 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297680"/>
            <a:ext cx="5029200" cy="457200"/>
          </a:xfrm>
          <a:prstGeom prst="rect">
            <a:avLst/>
          </a:prstGeom>
          <a:solidFill>
            <a:srgbClr val="112244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B0BEC5"/>
                </a:solidFill>
              </a:rPr>
              <a:t>Nessuna formula — solo intuizione geometrica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Chan-Vese: Perché Funziona per le Cellule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4069080" cy="3657600"/>
          </a:xfrm>
          <a:prstGeom prst="rect">
            <a:avLst/>
          </a:prstGeom>
          <a:solidFill>
            <a:srgbClr val="0D3349"/>
          </a:solidFill>
          <a:ln w="1905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4069080" cy="64008"/>
          </a:xfrm>
          <a:prstGeom prst="rect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0CBC4"/>
                </a:solidFill>
              </a:rPr>
              <a:t>Come funziona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la media dei pixel dentro e fuori il contorno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Minimizza la differenza tra ogni pixel e la sua media di regione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fino alla convergenza energetica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69080" cy="3657600"/>
          </a:xfrm>
          <a:prstGeom prst="rect">
            <a:avLst/>
          </a:prstGeom>
          <a:solidFill>
            <a:srgbClr val="0D3349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06908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6BB6A"/>
                </a:solidFill>
              </a:rPr>
              <a:t>Perché è la scelta giusta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richiede bordi netti — le cellule biologiche sono sfocate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forme irregolari con nucleo scuro visibile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al rumore digitale (CLAHE nel preprocessing)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Dal Frame Grezzo al Contorno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00"/>
            <a:ext cx="1417320" cy="1097280"/>
          </a:xfrm>
          <a:prstGeom prst="rect">
            <a:avLst/>
          </a:prstGeom>
          <a:solidFill>
            <a:srgbClr val="0D3349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1417320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81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.tif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1920240"/>
            <a:ext cx="262890" cy="0"/>
          </a:xfrm>
          <a:prstGeom prst="line">
            <a:avLst/>
          </a:prstGeom>
          <a:noFill/>
          <a:ln w="19050">
            <a:solidFill>
              <a:srgbClr val="80C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4797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578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Immagine grezza al microscopio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91690" y="1371600"/>
            <a:ext cx="1417320" cy="1097280"/>
          </a:xfrm>
          <a:prstGeom prst="rect">
            <a:avLst/>
          </a:prstGeom>
          <a:solidFill>
            <a:srgbClr val="0D3349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91690" y="1371600"/>
            <a:ext cx="1417320" cy="5486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1690" y="1481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54730" y="1920240"/>
            <a:ext cx="262890" cy="0"/>
          </a:xfrm>
          <a:prstGeom prst="line">
            <a:avLst/>
          </a:prstGeom>
          <a:noFill/>
          <a:ln w="19050">
            <a:solidFill>
              <a:srgbClr val="80C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6447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91690" y="2578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Rimozione impulsi di rumore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63340" y="1371600"/>
            <a:ext cx="1417320" cy="1097280"/>
          </a:xfrm>
          <a:prstGeom prst="rect">
            <a:avLst/>
          </a:prstGeom>
          <a:solidFill>
            <a:srgbClr val="0D3349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63340" y="1371600"/>
            <a:ext cx="1417320" cy="5486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3340" y="1481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Top-Hat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CLAHE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26380" y="1920240"/>
            <a:ext cx="262890" cy="0"/>
          </a:xfrm>
          <a:prstGeom prst="line">
            <a:avLst/>
          </a:prstGeom>
          <a:noFill/>
          <a:ln w="19050">
            <a:solidFill>
              <a:srgbClr val="80C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8097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63340" y="2578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Uniforma background e contrasto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34990" y="1371600"/>
            <a:ext cx="1417320" cy="1097280"/>
          </a:xfrm>
          <a:prstGeom prst="rect">
            <a:avLst/>
          </a:prstGeom>
          <a:solidFill>
            <a:srgbClr val="0D3349"/>
          </a:solidFill>
          <a:ln w="25400">
            <a:solidFill>
              <a:srgbClr val="4DB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34990" y="1371600"/>
            <a:ext cx="1417320" cy="5486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4990" y="1481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Chan-Vese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100 iter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98030" y="1920240"/>
            <a:ext cx="262890" cy="0"/>
          </a:xfrm>
          <a:prstGeom prst="line">
            <a:avLst/>
          </a:prstGeom>
          <a:noFill/>
          <a:ln w="19050">
            <a:solidFill>
              <a:srgbClr val="80CB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9747" y="1737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34990" y="2578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Segmentazione level set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1371600"/>
            <a:ext cx="1417320" cy="1097280"/>
          </a:xfrm>
          <a:prstGeom prst="rect">
            <a:avLst/>
          </a:prstGeom>
          <a:solidFill>
            <a:srgbClr val="0D3349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371600"/>
            <a:ext cx="1417320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148132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Maschera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Pulita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25786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Opening + Closing morfologico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520440"/>
            <a:ext cx="850392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593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2..N usa la maschera del frame precedente come seed  →  50 iterazioni Chan-Vese (invece di 100)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Confronto: GAC vs Chan-Vese vs LBF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219456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2103120" cy="548640"/>
          </a:xfrm>
          <a:prstGeom prst="rect">
            <a:avLst/>
          </a:prstGeom>
          <a:solidFill>
            <a:srgbClr val="EF5350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2103120" cy="548640"/>
          </a:xfrm>
          <a:prstGeom prst="rect">
            <a:avLst/>
          </a:prstGeom>
          <a:solidFill>
            <a:srgbClr val="80CBC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Chan-Vese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097280"/>
            <a:ext cx="2103120" cy="548640"/>
          </a:xfrm>
          <a:prstGeom prst="rect">
            <a:avLst/>
          </a:prstGeom>
          <a:solidFill>
            <a:srgbClr val="42A5F5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LBF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645920"/>
            <a:ext cx="219456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EC5"/>
                </a:solidFill>
              </a:rPr>
              <a:t>Tipo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1645920"/>
            <a:ext cx="210312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Edge-based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645920"/>
            <a:ext cx="210312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Region global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2280" y="1645920"/>
            <a:ext cx="210312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Region local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2194560"/>
            <a:ext cx="219456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EC5"/>
                </a:solidFill>
              </a:rPr>
              <a:t>Cellule scure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2194560"/>
            <a:ext cx="210312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5350"/>
                </a:solidFill>
              </a:rPr>
              <a:t>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210312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BB6A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2194560"/>
            <a:ext cx="210312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BB6A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2743200"/>
            <a:ext cx="219456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EC5"/>
                </a:solidFill>
              </a:rPr>
              <a:t>Velocità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06040" y="2743200"/>
            <a:ext cx="210312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12.5s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2743200"/>
            <a:ext cx="210312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24.1s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12280" y="2743200"/>
            <a:ext cx="2103120" cy="548640"/>
          </a:xfrm>
          <a:prstGeom prst="rect">
            <a:avLst/>
          </a:prstGeom>
          <a:solidFill>
            <a:srgbClr val="112244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82.2s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1480" y="3291840"/>
            <a:ext cx="219456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BEC5"/>
                </a:solidFill>
              </a:rPr>
              <a:t>Accuratezza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06040" y="3291840"/>
            <a:ext cx="210312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Bassa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09160" y="3291840"/>
            <a:ext cx="210312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Alta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12280" y="3291840"/>
            <a:ext cx="210312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1122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3291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Alta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1480" y="4160520"/>
            <a:ext cx="8321040" cy="658368"/>
          </a:xfrm>
          <a:prstGeom prst="rect">
            <a:avLst/>
          </a:prstGeom>
          <a:solidFill>
            <a:srgbClr val="0D3349"/>
          </a:solidFill>
          <a:ln w="25400">
            <a:solidFill>
              <a:srgbClr val="4DB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42336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4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Chan-Vese: miglior compromesso accuratezza / velocità per cellule biologiche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Parallelo: ProcessPoolExecutor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</a:rPr>
              <a:t>Seriale: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1143000"/>
            <a:ext cx="1463040" cy="457200"/>
          </a:xfrm>
          <a:prstGeom prst="rect">
            <a:avLst/>
          </a:prstGeom>
          <a:solidFill>
            <a:srgbClr val="112244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74320" cy="0"/>
          </a:xfrm>
          <a:prstGeom prst="line">
            <a:avLst/>
          </a:prstGeom>
          <a:noFill/>
          <a:ln w="1905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234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5350"/>
                </a:solidFill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143000"/>
            <a:ext cx="1463040" cy="457200"/>
          </a:xfrm>
          <a:prstGeom prst="rect">
            <a:avLst/>
          </a:prstGeom>
          <a:solidFill>
            <a:srgbClr val="112244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274320" cy="0"/>
          </a:xfrm>
          <a:prstGeom prst="line">
            <a:avLst/>
          </a:prstGeom>
          <a:noFill/>
          <a:ln w="1905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234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5350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143000"/>
            <a:ext cx="1463040" cy="457200"/>
          </a:xfrm>
          <a:prstGeom prst="rect">
            <a:avLst/>
          </a:prstGeom>
          <a:solidFill>
            <a:srgbClr val="112244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274320" cy="0"/>
          </a:xfrm>
          <a:prstGeom prst="line">
            <a:avLst/>
          </a:prstGeom>
          <a:noFill/>
          <a:ln w="1905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2344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5350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143000"/>
            <a:ext cx="1463040" cy="457200"/>
          </a:xfrm>
          <a:prstGeom prst="rect">
            <a:avLst/>
          </a:prstGeom>
          <a:solidFill>
            <a:srgbClr val="112244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EC5"/>
                </a:solidFill>
              </a:rPr>
              <a:t>Parallelo: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1874520"/>
            <a:ext cx="1143000" cy="365760"/>
          </a:xfrm>
          <a:prstGeom prst="rect">
            <a:avLst/>
          </a:prstGeom>
          <a:solidFill>
            <a:srgbClr val="0D3349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874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6AC"/>
                </a:solidFill>
              </a:rPr>
              <a:t>Core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2057400"/>
            <a:ext cx="274320" cy="0"/>
          </a:xfrm>
          <a:prstGeom prst="line">
            <a:avLst/>
          </a:prstGeom>
          <a:noFill/>
          <a:ln w="12700">
            <a:solidFill>
              <a:srgbClr val="80CB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1874520"/>
            <a:ext cx="1280160" cy="365760"/>
          </a:xfrm>
          <a:prstGeom prst="rect">
            <a:avLst/>
          </a:prstGeom>
          <a:solidFill>
            <a:srgbClr val="112244"/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2350008"/>
            <a:ext cx="1143000" cy="365760"/>
          </a:xfrm>
          <a:prstGeom prst="rect">
            <a:avLst/>
          </a:prstGeom>
          <a:solidFill>
            <a:srgbClr val="0D3349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23500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6AC"/>
                </a:solidFill>
              </a:rPr>
              <a:t>Core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2532888"/>
            <a:ext cx="274320" cy="0"/>
          </a:xfrm>
          <a:prstGeom prst="line">
            <a:avLst/>
          </a:prstGeom>
          <a:noFill/>
          <a:ln w="12700">
            <a:solidFill>
              <a:srgbClr val="80CB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2350008"/>
            <a:ext cx="1280160" cy="365760"/>
          </a:xfrm>
          <a:prstGeom prst="rect">
            <a:avLst/>
          </a:prstGeom>
          <a:solidFill>
            <a:srgbClr val="112244"/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2350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2825496"/>
            <a:ext cx="1143000" cy="365760"/>
          </a:xfrm>
          <a:prstGeom prst="rect">
            <a:avLst/>
          </a:prstGeom>
          <a:solidFill>
            <a:srgbClr val="0D3349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82549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6AC"/>
                </a:solidFill>
              </a:rPr>
              <a:t>Core 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3008376"/>
            <a:ext cx="274320" cy="0"/>
          </a:xfrm>
          <a:prstGeom prst="line">
            <a:avLst/>
          </a:prstGeom>
          <a:noFill/>
          <a:ln w="12700">
            <a:solidFill>
              <a:srgbClr val="80CB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2825496"/>
            <a:ext cx="1280160" cy="365760"/>
          </a:xfrm>
          <a:prstGeom prst="rect">
            <a:avLst/>
          </a:prstGeom>
          <a:solidFill>
            <a:srgbClr val="112244"/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28254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37360" y="3300984"/>
            <a:ext cx="1143000" cy="365760"/>
          </a:xfrm>
          <a:prstGeom prst="rect">
            <a:avLst/>
          </a:prstGeom>
          <a:solidFill>
            <a:srgbClr val="0D3349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33009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6AC"/>
                </a:solidFill>
              </a:rPr>
              <a:t>Core 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80360" y="3483864"/>
            <a:ext cx="274320" cy="0"/>
          </a:xfrm>
          <a:prstGeom prst="line">
            <a:avLst/>
          </a:prstGeom>
          <a:noFill/>
          <a:ln w="12700">
            <a:solidFill>
              <a:srgbClr val="80CB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3300984"/>
            <a:ext cx="1280160" cy="365760"/>
          </a:xfrm>
          <a:prstGeom prst="rect">
            <a:avLst/>
          </a:prstGeom>
          <a:solidFill>
            <a:srgbClr val="112244"/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33009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Frame N</a:t>
            </a:r>
            <a:endParaRPr lang="en-US" sz="11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029200" y="1005840"/>
          <a:ext cx="3749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411480" y="4160520"/>
            <a:ext cx="832104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concurrent.futures.ProcessPoolExecutor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  —  tutti i core CPU disponibili in automatico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L'Applicazione: Smart Cell Tracker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877824"/>
            <a:ext cx="8321040" cy="27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4114800" cy="1691640"/>
          </a:xfrm>
          <a:prstGeom prst="rect">
            <a:avLst/>
          </a:prstGeom>
          <a:solidFill>
            <a:srgbClr val="0D3349"/>
          </a:solidFill>
          <a:ln w="1905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4114800" cy="54864"/>
          </a:xfrm>
          <a:prstGeom prst="rect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0CBC4"/>
                </a:solidFill>
              </a:rPr>
              <a:t>🎯 Tracking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Carica dataset · tracking live frame per frame · player video integrato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0D3349"/>
          </a:solidFill>
          <a:ln w="1905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2A5F5"/>
                </a:solidFill>
              </a:rPr>
              <a:t>📊 Confronto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17373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GAC vs Chan-Vese vs LBF · immagini affiancate · grafico tempi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4114800" cy="1691640"/>
          </a:xfrm>
          <a:prstGeom prst="rect">
            <a:avLst/>
          </a:prstGeom>
          <a:solidFill>
            <a:srgbClr val="0D3349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063240"/>
            <a:ext cx="41148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⚡ Speedup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Test seriale vs parallelo · grafico QtCharts nativo animato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0D3349"/>
          </a:solidFill>
          <a:ln w="190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4114800" cy="5486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BEC5"/>
                </a:solidFill>
              </a:rPr>
              <a:t>ℹ Info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9472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Descrizione progetto · algoritmi · pipeline · applicazione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PySide6  ·  qt-material  ·  scikit-image  ·  OpenCV  ·  Python 3.11/3.12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977640" cy="2514600"/>
          </a:xfrm>
          <a:prstGeom prst="rect">
            <a:avLst/>
          </a:prstGeom>
          <a:solidFill>
            <a:srgbClr val="0D3349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Risultati Raggiunti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automatico accurato su video reali di microscopia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sperimentale di 3 algoritmi Level Set con dati reali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misurabile con calcolo parallelo multi-core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77640" cy="2514600"/>
          </a:xfrm>
          <a:prstGeom prst="rect">
            <a:avLst/>
          </a:prstGeom>
          <a:solidFill>
            <a:srgbClr val="0D3349"/>
          </a:solidFill>
          <a:ln w="19050">
            <a:solidFill>
              <a:srgbClr val="4DB6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704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B6AC"/>
                </a:solidFill>
              </a:rPr>
              <a:t>Sviluppi Futuri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27632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deep learning — Cellpose / SAM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multi-oggetto con ID univoci persistenti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Esportazione metriche quantitative (area, velocità media)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794760"/>
            <a:ext cx="8321040" cy="960120"/>
          </a:xfrm>
          <a:prstGeom prst="rect">
            <a:avLst/>
          </a:prstGeom>
          <a:solidFill>
            <a:srgbClr val="0D3349"/>
          </a:solidFill>
          <a:ln w="254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913632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Chan-Vese + preprocessing CLAHE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scelta ottimale per cellule con nucleo visibile e illuminazione variabile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Parallel Smart Tracker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Smart Tracker</dc:title>
  <dc:subject>PptxGenJS Presentation</dc:subject>
  <dc:creator>Massimo Marrone</dc:creator>
  <cp:lastModifiedBy>Massimo Marrone</cp:lastModifiedBy>
  <cp:revision>1</cp:revision>
  <dcterms:created xsi:type="dcterms:W3CDTF">2026-05-19T15:59:28Z</dcterms:created>
  <dcterms:modified xsi:type="dcterms:W3CDTF">2026-05-19T15:59:28Z</dcterms:modified>
</cp:coreProperties>
</file>